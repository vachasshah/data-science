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Lesson: Classifying Triangles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September 4, 20XX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4th grade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Advanced curriculum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18 students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1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2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3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4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Item 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188525" y="2438634"/>
            <a:ext cx="1273200" cy="553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4294967295" type="body"/>
          </p:nvPr>
        </p:nvSpPr>
        <p:spPr>
          <a:xfrm>
            <a:off x="292164" y="2673537"/>
            <a:ext cx="1102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the Problem and Data Collection</a:t>
            </a:r>
            <a:endParaRPr sz="600">
              <a:solidFill>
                <a:schemeClr val="lt1"/>
              </a:solidFill>
            </a:endParaRPr>
          </a:p>
        </p:txBody>
      </p:sp>
      <p:grpSp>
        <p:nvGrpSpPr>
          <p:cNvPr id="98" name="Google Shape;98;p18"/>
          <p:cNvGrpSpPr/>
          <p:nvPr/>
        </p:nvGrpSpPr>
        <p:grpSpPr>
          <a:xfrm>
            <a:off x="577470" y="2001526"/>
            <a:ext cx="135272" cy="440790"/>
            <a:chOff x="912820" y="1610215"/>
            <a:chExt cx="198900" cy="593656"/>
          </a:xfrm>
        </p:grpSpPr>
        <p:cxnSp>
          <p:nvCxnSpPr>
            <p:cNvPr id="99" name="Google Shape;99;p18"/>
            <p:cNvCxnSpPr/>
            <p:nvPr/>
          </p:nvCxnSpPr>
          <p:spPr>
            <a:xfrm>
              <a:off x="1012282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8"/>
            <p:cNvSpPr/>
            <p:nvPr/>
          </p:nvSpPr>
          <p:spPr>
            <a:xfrm>
              <a:off x="912820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8"/>
          <p:cNvSpPr/>
          <p:nvPr/>
        </p:nvSpPr>
        <p:spPr>
          <a:xfrm>
            <a:off x="1192412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4294967295" type="body"/>
          </p:nvPr>
        </p:nvSpPr>
        <p:spPr>
          <a:xfrm>
            <a:off x="1506382" y="2673537"/>
            <a:ext cx="894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Exploration and Preprocessing (EDA)</a:t>
            </a:r>
            <a:endParaRPr sz="600">
              <a:solidFill>
                <a:schemeClr val="lt1"/>
              </a:solidFill>
            </a:endParaRPr>
          </a:p>
        </p:txBody>
      </p:sp>
      <p:grpSp>
        <p:nvGrpSpPr>
          <p:cNvPr id="103" name="Google Shape;103;p18"/>
          <p:cNvGrpSpPr/>
          <p:nvPr/>
        </p:nvGrpSpPr>
        <p:grpSpPr>
          <a:xfrm>
            <a:off x="1497960" y="2988118"/>
            <a:ext cx="135272" cy="440789"/>
            <a:chOff x="2266282" y="2938958"/>
            <a:chExt cx="198900" cy="593656"/>
          </a:xfrm>
        </p:grpSpPr>
        <p:cxnSp>
          <p:nvCxnSpPr>
            <p:cNvPr id="104" name="Google Shape;104;p18"/>
            <p:cNvCxnSpPr/>
            <p:nvPr/>
          </p:nvCxnSpPr>
          <p:spPr>
            <a:xfrm rot="10800000">
              <a:off x="2365745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8"/>
            <p:cNvSpPr/>
            <p:nvPr/>
          </p:nvSpPr>
          <p:spPr>
            <a:xfrm flipH="1" rot="10800000">
              <a:off x="2266282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8"/>
          <p:cNvSpPr txBox="1"/>
          <p:nvPr>
            <p:ph idx="4294967295" type="body"/>
          </p:nvPr>
        </p:nvSpPr>
        <p:spPr>
          <a:xfrm>
            <a:off x="1165665" y="3426212"/>
            <a:ext cx="15255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Loading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Data Exploration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 Missing Values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 and Handle Outliers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Hypothesis Testing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Analysis</a:t>
            </a:r>
            <a:endParaRPr sz="1600"/>
          </a:p>
        </p:txBody>
      </p:sp>
      <p:sp>
        <p:nvSpPr>
          <p:cNvPr id="107" name="Google Shape;107;p18"/>
          <p:cNvSpPr/>
          <p:nvPr/>
        </p:nvSpPr>
        <p:spPr>
          <a:xfrm>
            <a:off x="2317897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>
            <p:ph idx="4294967295" type="body"/>
          </p:nvPr>
        </p:nvSpPr>
        <p:spPr>
          <a:xfrm>
            <a:off x="2622698" y="2540761"/>
            <a:ext cx="894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Splitting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3443383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4294967295" type="body"/>
          </p:nvPr>
        </p:nvSpPr>
        <p:spPr>
          <a:xfrm>
            <a:off x="3744121" y="2710489"/>
            <a:ext cx="894300" cy="1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Building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11" name="Google Shape;111;p18"/>
          <p:cNvGrpSpPr/>
          <p:nvPr/>
        </p:nvGrpSpPr>
        <p:grpSpPr>
          <a:xfrm>
            <a:off x="6175492" y="2988118"/>
            <a:ext cx="135272" cy="440789"/>
            <a:chOff x="9143995" y="2938958"/>
            <a:chExt cx="198900" cy="593656"/>
          </a:xfrm>
        </p:grpSpPr>
        <p:cxnSp>
          <p:nvCxnSpPr>
            <p:cNvPr id="112" name="Google Shape;112;p18"/>
            <p:cNvCxnSpPr/>
            <p:nvPr/>
          </p:nvCxnSpPr>
          <p:spPr>
            <a:xfrm rot="10800000">
              <a:off x="924345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18"/>
            <p:cNvSpPr/>
            <p:nvPr/>
          </p:nvSpPr>
          <p:spPr>
            <a:xfrm flipH="1" rot="10800000">
              <a:off x="9143995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4954850" y="3481200"/>
            <a:ext cx="41892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Predictions: Use the trained model to predict on test data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Metrics: Calculate performance metrics like: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(R-squared)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 (Mean Absolute Error)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 (Mean Squared Error)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 (Root Mean Squared Error)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568869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4294967295" type="body"/>
          </p:nvPr>
        </p:nvSpPr>
        <p:spPr>
          <a:xfrm>
            <a:off x="4896736" y="2597337"/>
            <a:ext cx="894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Hypothesis Testing in Linear Regression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17" name="Google Shape;117;p18"/>
          <p:cNvGrpSpPr/>
          <p:nvPr/>
        </p:nvGrpSpPr>
        <p:grpSpPr>
          <a:xfrm>
            <a:off x="5172897" y="2001526"/>
            <a:ext cx="135272" cy="440790"/>
            <a:chOff x="7669807" y="1610215"/>
            <a:chExt cx="198900" cy="593656"/>
          </a:xfrm>
        </p:grpSpPr>
        <p:cxnSp>
          <p:nvCxnSpPr>
            <p:cNvPr id="118" name="Google Shape;118;p18"/>
            <p:cNvCxnSpPr/>
            <p:nvPr/>
          </p:nvCxnSpPr>
          <p:spPr>
            <a:xfrm>
              <a:off x="7769270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8"/>
            <p:cNvSpPr/>
            <p:nvPr/>
          </p:nvSpPr>
          <p:spPr>
            <a:xfrm>
              <a:off x="766980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8"/>
          <p:cNvSpPr txBox="1"/>
          <p:nvPr>
            <p:ph idx="4294967295" type="body"/>
          </p:nvPr>
        </p:nvSpPr>
        <p:spPr>
          <a:xfrm>
            <a:off x="3891845" y="-10"/>
            <a:ext cx="2587200" cy="11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 Hypothesis Testing on Coefficients: Testing if the features significantly affect the target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 Hypothesis (H₀): Coefficient is zero (no effect)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 Hypothesis (H₁): Coefficient is not zero (significant effect)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P-values: Evaluate the significance of each feature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708963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Model Evaluation</a:t>
            </a:r>
            <a:endParaRPr sz="1100"/>
          </a:p>
        </p:txBody>
      </p:sp>
      <p:sp>
        <p:nvSpPr>
          <p:cNvPr id="122" name="Google Shape;122;p18"/>
          <p:cNvSpPr/>
          <p:nvPr/>
        </p:nvSpPr>
        <p:spPr>
          <a:xfrm>
            <a:off x="6797234" y="2438634"/>
            <a:ext cx="1395000" cy="553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800"/>
              <a:t>Model </a:t>
            </a:r>
            <a:r>
              <a:rPr b="1" lang="en" sz="800"/>
              <a:t>Exploration</a:t>
            </a:r>
            <a:endParaRPr sz="1100"/>
          </a:p>
        </p:txBody>
      </p:sp>
      <p:sp>
        <p:nvSpPr>
          <p:cNvPr id="123" name="Google Shape;123;p18"/>
          <p:cNvSpPr txBox="1"/>
          <p:nvPr/>
        </p:nvSpPr>
        <p:spPr>
          <a:xfrm>
            <a:off x="242722" y="943520"/>
            <a:ext cx="13155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Define the Problem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Collect Relevant Data (Dependent and Independent Variables)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124" name="Google Shape;124;p18"/>
          <p:cNvGrpSpPr/>
          <p:nvPr/>
        </p:nvGrpSpPr>
        <p:grpSpPr>
          <a:xfrm>
            <a:off x="2944482" y="2001526"/>
            <a:ext cx="135272" cy="440790"/>
            <a:chOff x="4393207" y="1610215"/>
            <a:chExt cx="198900" cy="593656"/>
          </a:xfrm>
        </p:grpSpPr>
        <p:cxnSp>
          <p:nvCxnSpPr>
            <p:cNvPr id="125" name="Google Shape;125;p18"/>
            <p:cNvCxnSpPr/>
            <p:nvPr/>
          </p:nvCxnSpPr>
          <p:spPr>
            <a:xfrm>
              <a:off x="4492670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8"/>
            <p:cNvSpPr/>
            <p:nvPr/>
          </p:nvSpPr>
          <p:spPr>
            <a:xfrm>
              <a:off x="439320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18"/>
          <p:cNvGrpSpPr/>
          <p:nvPr/>
        </p:nvGrpSpPr>
        <p:grpSpPr>
          <a:xfrm>
            <a:off x="4037317" y="2988118"/>
            <a:ext cx="135272" cy="440789"/>
            <a:chOff x="6000082" y="2938958"/>
            <a:chExt cx="198900" cy="593656"/>
          </a:xfrm>
        </p:grpSpPr>
        <p:cxnSp>
          <p:nvCxnSpPr>
            <p:cNvPr id="128" name="Google Shape;128;p18"/>
            <p:cNvCxnSpPr/>
            <p:nvPr/>
          </p:nvCxnSpPr>
          <p:spPr>
            <a:xfrm rot="10800000">
              <a:off x="6099545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18"/>
            <p:cNvSpPr/>
            <p:nvPr/>
          </p:nvSpPr>
          <p:spPr>
            <a:xfrm flipH="1" rot="10800000">
              <a:off x="6000082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8"/>
          <p:cNvSpPr txBox="1"/>
          <p:nvPr/>
        </p:nvSpPr>
        <p:spPr>
          <a:xfrm>
            <a:off x="1811950" y="1234275"/>
            <a:ext cx="20799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Split data into Training and Test Sets (e.g., 80-20 split)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Separate Features (X) and Target (y)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447077" y="3456746"/>
            <a:ext cx="13155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Fit the Linear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chemeClr val="dk2"/>
                </a:solidFill>
              </a:rPr>
              <a:t>Regression Model: Train the model using LinearRegression or other frameworks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633150" y="629250"/>
            <a:ext cx="25872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/>
              <a:t>Interpret Coefficients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/>
              <a:t>Confidence Intervals for </a:t>
            </a:r>
            <a:r>
              <a:rPr lang="en" sz="1000"/>
              <a:t>Coefficients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/>
              <a:t>Model Improvement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/>
              <a:t>Feature Engineering generalizability through k-fold cross-validation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/>
              <a:t>Model Deployment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" sz="1000"/>
              <a:t>Real-Time Prediction</a:t>
            </a:r>
            <a:endParaRPr sz="1000">
              <a:solidFill>
                <a:schemeClr val="lt2"/>
              </a:solidFill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7556784" y="2001526"/>
            <a:ext cx="135272" cy="440790"/>
            <a:chOff x="11175007" y="1610215"/>
            <a:chExt cx="198900" cy="593656"/>
          </a:xfrm>
        </p:grpSpPr>
        <p:cxnSp>
          <p:nvCxnSpPr>
            <p:cNvPr id="134" name="Google Shape;134;p18"/>
            <p:cNvCxnSpPr/>
            <p:nvPr/>
          </p:nvCxnSpPr>
          <p:spPr>
            <a:xfrm>
              <a:off x="11274470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18"/>
            <p:cNvSpPr/>
            <p:nvPr/>
          </p:nvSpPr>
          <p:spPr>
            <a:xfrm>
              <a:off x="1117500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Incididunt ut labore et dolore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Consectetur adipiscing elit, sed do eiusmod tempor incididunt ut labore et dolore magna aliqua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